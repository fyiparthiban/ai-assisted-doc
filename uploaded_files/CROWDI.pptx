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lgerian" panose="04020705040A02060702" pitchFamily="82" charset="0"/>
      <p:regular r:id="rId7"/>
    </p:embeddedFont>
    <p:embeddedFont>
      <p:font typeface="Futura" panose="020B0604020202020204" charset="0"/>
      <p:regular r:id="rId8"/>
    </p:embeddedFont>
    <p:embeddedFont>
      <p:font typeface="Oswald" panose="00000500000000000000" pitchFamily="2" charset="0"/>
      <p:regular r:id="rId9"/>
      <p:bold r:id="rId10"/>
    </p:embeddedFont>
    <p:embeddedFont>
      <p:font typeface="Poppins" panose="00000500000000000000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51388" y="6966819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16460" y="-544450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271953">
            <a:off x="16120966" y="2584352"/>
            <a:ext cx="3379626" cy="3392991"/>
            <a:chOff x="0" y="0"/>
            <a:chExt cx="812800" cy="816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6014"/>
            </a:xfrm>
            <a:custGeom>
              <a:avLst/>
              <a:gdLst/>
              <a:ahLst/>
              <a:cxnLst/>
              <a:rect l="l" t="t" r="r" b="b"/>
              <a:pathLst>
                <a:path w="812800" h="816014">
                  <a:moveTo>
                    <a:pt x="406400" y="0"/>
                  </a:moveTo>
                  <a:cubicBezTo>
                    <a:pt x="181951" y="0"/>
                    <a:pt x="0" y="182671"/>
                    <a:pt x="0" y="408007"/>
                  </a:cubicBezTo>
                  <a:cubicBezTo>
                    <a:pt x="0" y="633343"/>
                    <a:pt x="181951" y="816014"/>
                    <a:pt x="406400" y="816014"/>
                  </a:cubicBezTo>
                  <a:cubicBezTo>
                    <a:pt x="630849" y="816014"/>
                    <a:pt x="812800" y="633343"/>
                    <a:pt x="812800" y="408007"/>
                  </a:cubicBezTo>
                  <a:cubicBezTo>
                    <a:pt x="812800" y="18267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61616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-56849"/>
              <a:ext cx="660400" cy="796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540">
            <a:off x="16875585" y="3151135"/>
            <a:ext cx="482145" cy="4821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90500" y="57150"/>
              <a:ext cx="4318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189" y="229400"/>
            <a:ext cx="1460172" cy="1196147"/>
            <a:chOff x="0" y="0"/>
            <a:chExt cx="1946896" cy="1594862"/>
          </a:xfrm>
        </p:grpSpPr>
        <p:sp>
          <p:nvSpPr>
            <p:cNvPr id="11" name="Freeform 11"/>
            <p:cNvSpPr/>
            <p:nvPr/>
          </p:nvSpPr>
          <p:spPr>
            <a:xfrm>
              <a:off x="242699" y="0"/>
              <a:ext cx="1581174" cy="1594862"/>
            </a:xfrm>
            <a:custGeom>
              <a:avLst/>
              <a:gdLst/>
              <a:ahLst/>
              <a:cxnLst/>
              <a:rect l="l" t="t" r="r" b="b"/>
              <a:pathLst>
                <a:path w="1581174" h="1594862">
                  <a:moveTo>
                    <a:pt x="0" y="0"/>
                  </a:moveTo>
                  <a:lnTo>
                    <a:pt x="1581175" y="0"/>
                  </a:lnTo>
                  <a:lnTo>
                    <a:pt x="1581175" y="1594862"/>
                  </a:lnTo>
                  <a:lnTo>
                    <a:pt x="0" y="1594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55" r="-2895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859322"/>
              <a:ext cx="1946896" cy="735540"/>
            </a:xfrm>
            <a:custGeom>
              <a:avLst/>
              <a:gdLst/>
              <a:ahLst/>
              <a:cxnLst/>
              <a:rect l="l" t="t" r="r" b="b"/>
              <a:pathLst>
                <a:path w="1946896" h="735540">
                  <a:moveTo>
                    <a:pt x="0" y="0"/>
                  </a:moveTo>
                  <a:lnTo>
                    <a:pt x="1946896" y="0"/>
                  </a:lnTo>
                  <a:lnTo>
                    <a:pt x="1946896" y="735540"/>
                  </a:lnTo>
                  <a:lnTo>
                    <a:pt x="0" y="73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107" r="-36928" b="-753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096776" y="2693362"/>
            <a:ext cx="8553450" cy="139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89"/>
              </a:lnSpc>
              <a:spcBef>
                <a:spcPct val="0"/>
              </a:spcBef>
            </a:pPr>
            <a:r>
              <a:rPr lang="en-IN" sz="8800" dirty="0">
                <a:solidFill>
                  <a:schemeClr val="bg1"/>
                </a:solidFill>
                <a:latin typeface="Algerian" panose="04020705040A02060702" pitchFamily="82" charset="0"/>
              </a:rPr>
              <a:t>CROWDI</a:t>
            </a:r>
            <a:endParaRPr lang="en-US" sz="8349" dirty="0">
              <a:solidFill>
                <a:schemeClr val="bg1"/>
              </a:solidFill>
              <a:latin typeface="Algerian" panose="04020705040A02060702" pitchFamily="82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638800" y="4384349"/>
            <a:ext cx="8553450" cy="6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  <a:spcBef>
                <a:spcPct val="0"/>
              </a:spcBef>
            </a:pPr>
            <a:r>
              <a:rPr lang="en-US" sz="3735" dirty="0">
                <a:solidFill>
                  <a:schemeClr val="bg1"/>
                </a:solidFill>
                <a:latin typeface="Oswald" panose="00000500000000000000" pitchFamily="2" charset="0"/>
                <a:ea typeface="Codec Pro"/>
                <a:cs typeface="Times New Roman" panose="02020603050405020304" pitchFamily="18" charset="0"/>
                <a:sym typeface="Codec Pro"/>
              </a:rPr>
              <a:t>TEAM NAME : KINGS OF PROMPTS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664" y="5674509"/>
            <a:ext cx="16782079" cy="154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0"/>
              </a:lnSpc>
            </a:pPr>
            <a:r>
              <a:rPr lang="en-US" sz="3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DOMAIN : ARTIFICAL INTELLIGENCE AND MACHINE LEARNING </a:t>
            </a:r>
          </a:p>
          <a:p>
            <a:pPr algn="ctr">
              <a:lnSpc>
                <a:spcPts val="4110"/>
              </a:lnSpc>
            </a:pPr>
            <a:r>
              <a:rPr lang="en-US" sz="3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PROBLEM STATEMENT : </a:t>
            </a:r>
            <a:r>
              <a:rPr lang="en-US" sz="3200" dirty="0">
                <a:solidFill>
                  <a:schemeClr val="bg1"/>
                </a:solidFill>
                <a:latin typeface="Oswald" panose="00000500000000000000" pitchFamily="2" charset="0"/>
              </a:rPr>
              <a:t>URBAN CROWD FLOW &amp; BREAKDOWN PREDICTION SYSTEM</a:t>
            </a:r>
            <a:endParaRPr lang="en-US" sz="3200" dirty="0">
              <a:solidFill>
                <a:schemeClr val="bg1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411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COLLEGE NAME:  PANIMALAR ENGINEERING COLLEGE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-285349" y="9572625"/>
            <a:ext cx="18725749" cy="19050"/>
          </a:xfrm>
          <a:prstGeom prst="line">
            <a:avLst/>
          </a:prstGeom>
          <a:ln w="38100" cap="flat">
            <a:solidFill>
              <a:srgbClr val="7972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83431" y="9616035"/>
            <a:ext cx="285943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PRISMATIC 2K26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82640" y="9616035"/>
            <a:ext cx="1553319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Slide 001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91849" y="702767"/>
            <a:ext cx="5387429" cy="5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National-Level 24-Hour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1249" y="667567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16460" y="-544450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271953">
            <a:off x="16120966" y="2584352"/>
            <a:ext cx="3379626" cy="3392991"/>
            <a:chOff x="0" y="0"/>
            <a:chExt cx="812800" cy="816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6014"/>
            </a:xfrm>
            <a:custGeom>
              <a:avLst/>
              <a:gdLst/>
              <a:ahLst/>
              <a:cxnLst/>
              <a:rect l="l" t="t" r="r" b="b"/>
              <a:pathLst>
                <a:path w="812800" h="816014">
                  <a:moveTo>
                    <a:pt x="406400" y="0"/>
                  </a:moveTo>
                  <a:cubicBezTo>
                    <a:pt x="181951" y="0"/>
                    <a:pt x="0" y="182671"/>
                    <a:pt x="0" y="408007"/>
                  </a:cubicBezTo>
                  <a:cubicBezTo>
                    <a:pt x="0" y="633343"/>
                    <a:pt x="181951" y="816014"/>
                    <a:pt x="406400" y="816014"/>
                  </a:cubicBezTo>
                  <a:cubicBezTo>
                    <a:pt x="630849" y="816014"/>
                    <a:pt x="812800" y="633343"/>
                    <a:pt x="812800" y="408007"/>
                  </a:cubicBezTo>
                  <a:cubicBezTo>
                    <a:pt x="812800" y="18267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61616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-56849"/>
              <a:ext cx="660400" cy="796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540">
            <a:off x="16875585" y="3151135"/>
            <a:ext cx="482145" cy="4821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90500" y="57150"/>
              <a:ext cx="4318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189" y="229400"/>
            <a:ext cx="1460172" cy="1196147"/>
            <a:chOff x="0" y="0"/>
            <a:chExt cx="1946896" cy="1594862"/>
          </a:xfrm>
        </p:grpSpPr>
        <p:sp>
          <p:nvSpPr>
            <p:cNvPr id="11" name="Freeform 11"/>
            <p:cNvSpPr/>
            <p:nvPr/>
          </p:nvSpPr>
          <p:spPr>
            <a:xfrm>
              <a:off x="242699" y="0"/>
              <a:ext cx="1581174" cy="1594862"/>
            </a:xfrm>
            <a:custGeom>
              <a:avLst/>
              <a:gdLst/>
              <a:ahLst/>
              <a:cxnLst/>
              <a:rect l="l" t="t" r="r" b="b"/>
              <a:pathLst>
                <a:path w="1581174" h="1594862">
                  <a:moveTo>
                    <a:pt x="0" y="0"/>
                  </a:moveTo>
                  <a:lnTo>
                    <a:pt x="1581175" y="0"/>
                  </a:lnTo>
                  <a:lnTo>
                    <a:pt x="1581175" y="1594862"/>
                  </a:lnTo>
                  <a:lnTo>
                    <a:pt x="0" y="1594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55" r="-2895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859322"/>
              <a:ext cx="1946896" cy="735540"/>
            </a:xfrm>
            <a:custGeom>
              <a:avLst/>
              <a:gdLst/>
              <a:ahLst/>
              <a:cxnLst/>
              <a:rect l="l" t="t" r="r" b="b"/>
              <a:pathLst>
                <a:path w="1946896" h="735540">
                  <a:moveTo>
                    <a:pt x="0" y="0"/>
                  </a:moveTo>
                  <a:lnTo>
                    <a:pt x="1946896" y="0"/>
                  </a:lnTo>
                  <a:lnTo>
                    <a:pt x="1946896" y="735540"/>
                  </a:lnTo>
                  <a:lnTo>
                    <a:pt x="0" y="73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107" r="-36928" b="-753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1691849" y="702767"/>
            <a:ext cx="5387429" cy="5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National-Level 24-Hour Hackathon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19400" y="602245"/>
            <a:ext cx="9478714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Oswald" panose="00000500000000000000" pitchFamily="2" charset="0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-285349" y="9572625"/>
            <a:ext cx="18725749" cy="19050"/>
          </a:xfrm>
          <a:prstGeom prst="line">
            <a:avLst/>
          </a:prstGeom>
          <a:ln w="38100" cap="flat">
            <a:solidFill>
              <a:srgbClr val="7972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83431" y="9616035"/>
            <a:ext cx="285943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PRISMATIC 2K26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35685" y="9616035"/>
            <a:ext cx="164723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Slide 002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CBF9AF-A8C3-4F5D-C833-E9294595EB19}"/>
              </a:ext>
            </a:extLst>
          </p:cNvPr>
          <p:cNvSpPr txBox="1"/>
          <p:nvPr/>
        </p:nvSpPr>
        <p:spPr>
          <a:xfrm>
            <a:off x="1511275" y="2344102"/>
            <a:ext cx="140335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Oswald" panose="00000500000000000000" pitchFamily="2" charset="0"/>
              </a:rPr>
              <a:t>URBAN CROWD FLOW &amp; BREAKDOWN PREDICTION SYSTEM:</a:t>
            </a:r>
          </a:p>
          <a:p>
            <a:endParaRPr lang="en-US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	Rapid urbanization leads to </a:t>
            </a:r>
            <a:r>
              <a:rPr lang="en-US" sz="2800" b="1" dirty="0">
                <a:solidFill>
                  <a:schemeClr val="accent2"/>
                </a:solidFill>
                <a:latin typeface="Oswald" panose="00000500000000000000" pitchFamily="2" charset="0"/>
              </a:rPr>
              <a:t>high crowd density in public places</a:t>
            </a:r>
            <a:r>
              <a:rPr lang="en-US" sz="2800" dirty="0">
                <a:solidFill>
                  <a:schemeClr val="accent2"/>
                </a:solidFill>
                <a:latin typeface="Oswald" panose="00000500000000000000" pitchFamily="2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(stations, malls, 	events) </a:t>
            </a:r>
          </a:p>
          <a:p>
            <a:endParaRPr lang="en-US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Lack of real-time monitoring causes: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Congestion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Safety risks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Delayed response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Existing systems are </a:t>
            </a:r>
            <a:r>
              <a:rPr lang="en-US" sz="2800" b="1" dirty="0">
                <a:solidFill>
                  <a:srgbClr val="00B050"/>
                </a:solidFill>
                <a:latin typeface="Oswald" panose="00000500000000000000" pitchFamily="2" charset="0"/>
              </a:rPr>
              <a:t>reactive</a:t>
            </a:r>
            <a:r>
              <a:rPr lang="en-US" sz="2800" dirty="0">
                <a:solidFill>
                  <a:srgbClr val="00B050"/>
                </a:solidFill>
                <a:latin typeface="Oswald" panose="00000500000000000000" pitchFamily="2" charset="0"/>
              </a:rPr>
              <a:t>, not predictive </a:t>
            </a:r>
          </a:p>
          <a:p>
            <a:endParaRPr lang="en-US" sz="2800" dirty="0">
              <a:solidFill>
                <a:srgbClr val="00B050"/>
              </a:solidFill>
              <a:latin typeface="Oswald" panose="00000500000000000000" pitchFamily="2" charset="0"/>
            </a:endParaRPr>
          </a:p>
          <a:p>
            <a:r>
              <a:rPr lang="en-US" sz="2800" b="1" dirty="0">
                <a:solidFill>
                  <a:schemeClr val="bg2"/>
                </a:solidFill>
                <a:latin typeface="Oswald" panose="00000500000000000000" pitchFamily="2" charset="0"/>
              </a:rPr>
              <a:t>PROBLEM:</a:t>
            </a:r>
          </a:p>
          <a:p>
            <a:b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</a:b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	No efficient system to </a:t>
            </a:r>
            <a:r>
              <a:rPr lang="en-US" sz="2800" b="1" dirty="0">
                <a:solidFill>
                  <a:schemeClr val="accent5"/>
                </a:solidFill>
                <a:latin typeface="Oswald" panose="00000500000000000000" pitchFamily="2" charset="0"/>
              </a:rPr>
              <a:t>detect crowd density and predict congestion in real-time</a:t>
            </a:r>
            <a:r>
              <a:rPr lang="en-US" sz="2800" dirty="0">
                <a:solidFill>
                  <a:schemeClr val="accent5"/>
                </a:solidFill>
                <a:latin typeface="Oswald" panose="00000500000000000000" pitchFamily="2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using 	multiple video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40945" y="65913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16460" y="-544450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271953">
            <a:off x="16120966" y="2584352"/>
            <a:ext cx="3379626" cy="3392991"/>
            <a:chOff x="0" y="0"/>
            <a:chExt cx="812800" cy="816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6014"/>
            </a:xfrm>
            <a:custGeom>
              <a:avLst/>
              <a:gdLst/>
              <a:ahLst/>
              <a:cxnLst/>
              <a:rect l="l" t="t" r="r" b="b"/>
              <a:pathLst>
                <a:path w="812800" h="816014">
                  <a:moveTo>
                    <a:pt x="406400" y="0"/>
                  </a:moveTo>
                  <a:cubicBezTo>
                    <a:pt x="181951" y="0"/>
                    <a:pt x="0" y="182671"/>
                    <a:pt x="0" y="408007"/>
                  </a:cubicBezTo>
                  <a:cubicBezTo>
                    <a:pt x="0" y="633343"/>
                    <a:pt x="181951" y="816014"/>
                    <a:pt x="406400" y="816014"/>
                  </a:cubicBezTo>
                  <a:cubicBezTo>
                    <a:pt x="630849" y="816014"/>
                    <a:pt x="812800" y="633343"/>
                    <a:pt x="812800" y="408007"/>
                  </a:cubicBezTo>
                  <a:cubicBezTo>
                    <a:pt x="812800" y="18267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61616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-56849"/>
              <a:ext cx="660400" cy="796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540">
            <a:off x="16875585" y="3151135"/>
            <a:ext cx="482145" cy="4821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90500" y="57150"/>
              <a:ext cx="4318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189" y="229400"/>
            <a:ext cx="1460172" cy="1196147"/>
            <a:chOff x="0" y="0"/>
            <a:chExt cx="1946896" cy="1594862"/>
          </a:xfrm>
        </p:grpSpPr>
        <p:sp>
          <p:nvSpPr>
            <p:cNvPr id="11" name="Freeform 11"/>
            <p:cNvSpPr/>
            <p:nvPr/>
          </p:nvSpPr>
          <p:spPr>
            <a:xfrm>
              <a:off x="242699" y="0"/>
              <a:ext cx="1581174" cy="1594862"/>
            </a:xfrm>
            <a:custGeom>
              <a:avLst/>
              <a:gdLst/>
              <a:ahLst/>
              <a:cxnLst/>
              <a:rect l="l" t="t" r="r" b="b"/>
              <a:pathLst>
                <a:path w="1581174" h="1594862">
                  <a:moveTo>
                    <a:pt x="0" y="0"/>
                  </a:moveTo>
                  <a:lnTo>
                    <a:pt x="1581175" y="0"/>
                  </a:lnTo>
                  <a:lnTo>
                    <a:pt x="1581175" y="1594862"/>
                  </a:lnTo>
                  <a:lnTo>
                    <a:pt x="0" y="1594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55" r="-2895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859322"/>
              <a:ext cx="1946896" cy="735540"/>
            </a:xfrm>
            <a:custGeom>
              <a:avLst/>
              <a:gdLst/>
              <a:ahLst/>
              <a:cxnLst/>
              <a:rect l="l" t="t" r="r" b="b"/>
              <a:pathLst>
                <a:path w="1946896" h="735540">
                  <a:moveTo>
                    <a:pt x="0" y="0"/>
                  </a:moveTo>
                  <a:lnTo>
                    <a:pt x="1946896" y="0"/>
                  </a:lnTo>
                  <a:lnTo>
                    <a:pt x="1946896" y="735540"/>
                  </a:lnTo>
                  <a:lnTo>
                    <a:pt x="0" y="73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107" r="-36928" b="-753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423807" y="602245"/>
            <a:ext cx="9175775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Oswald" panose="00000500000000000000" pitchFamily="2" charset="0"/>
                <a:ea typeface="League Spartan"/>
                <a:cs typeface="League Spartan"/>
                <a:sym typeface="League Spartan"/>
              </a:rPr>
              <a:t>PROPOSED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1849" y="702767"/>
            <a:ext cx="5387429" cy="5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National-Level 24-Hour Hackathon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-285349" y="9572625"/>
            <a:ext cx="18725749" cy="19050"/>
          </a:xfrm>
          <a:prstGeom prst="line">
            <a:avLst/>
          </a:prstGeom>
          <a:ln w="38100" cap="flat">
            <a:solidFill>
              <a:srgbClr val="7972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963213" y="2081629"/>
            <a:ext cx="11079662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The system is an </a:t>
            </a:r>
            <a:r>
              <a:rPr lang="en-US" sz="2800" b="1" dirty="0">
                <a:solidFill>
                  <a:srgbClr val="FFC000"/>
                </a:solidFill>
                <a:latin typeface="Oswald" panose="00000500000000000000" pitchFamily="2" charset="0"/>
              </a:rPr>
              <a:t>AI-powered multi-camera crowd monitoring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 solution using live feeds from laptop and mobile cameras along with recorded video inputs.</a:t>
            </a:r>
          </a:p>
          <a:p>
            <a:endParaRPr lang="en-US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2"/>
                </a:solidFill>
                <a:latin typeface="Oswald" panose="00000500000000000000" pitchFamily="2" charset="0"/>
              </a:rPr>
              <a:t>SUPPORTS: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C00000"/>
                </a:solidFill>
                <a:latin typeface="Oswald" panose="00000500000000000000" pitchFamily="2" charset="0"/>
              </a:rPr>
              <a:t>Live 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camera feeds (laptop + mobile)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92D050"/>
                </a:solidFill>
                <a:latin typeface="Oswald" panose="00000500000000000000" pitchFamily="2" charset="0"/>
              </a:rPr>
              <a:t>Recorded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 video uploads 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2"/>
                </a:solidFill>
                <a:latin typeface="Oswald" panose="00000500000000000000" pitchFamily="2" charset="0"/>
              </a:rPr>
              <a:t>Uses computer vision to: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Detect people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Estimate density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bg2"/>
                </a:solidFill>
                <a:latin typeface="Oswald" panose="00000500000000000000" pitchFamily="2" charset="0"/>
              </a:rPr>
              <a:t>Analyze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 movement </a:t>
            </a:r>
          </a:p>
          <a:p>
            <a:pPr lvl="1"/>
            <a:endParaRPr lang="en-IN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bg2"/>
                </a:solidFill>
                <a:latin typeface="Oswald" panose="00000500000000000000" pitchFamily="2" charset="0"/>
              </a:rPr>
              <a:t>SYSTEM WILL:</a:t>
            </a:r>
          </a:p>
          <a:p>
            <a:endParaRPr lang="en-IN" sz="2800" b="1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Monitor crowd continuously 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Predict congestion before it occurs 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Send </a:t>
            </a:r>
            <a:r>
              <a:rPr lang="en-IN" sz="2800" b="1" dirty="0">
                <a:solidFill>
                  <a:srgbClr val="FF0000"/>
                </a:solidFill>
                <a:latin typeface="Oswald" panose="00000500000000000000" pitchFamily="2" charset="0"/>
              </a:rPr>
              <a:t>real-time alerts to guards/admin</a:t>
            </a:r>
            <a:endParaRPr lang="en-IN" sz="2800" dirty="0">
              <a:solidFill>
                <a:srgbClr val="FF0000"/>
              </a:solidFill>
              <a:latin typeface="Oswald" panose="00000500000000000000" pitchFamily="2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3431" y="9616035"/>
            <a:ext cx="285943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PRISMATIC 2K26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33155" y="9616035"/>
            <a:ext cx="165229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Slide 003</a:t>
            </a:r>
          </a:p>
        </p:txBody>
      </p:sp>
      <p:pic>
        <p:nvPicPr>
          <p:cNvPr id="1035" name="Picture 11" descr="Make a People Counting System in Less Than 10 Minutes - viso.ai">
            <a:extLst>
              <a:ext uri="{FF2B5EF4-FFF2-40B4-BE49-F238E27FC236}">
                <a16:creationId xmlns:a16="http://schemas.microsoft.com/office/drawing/2014/main" id="{E36AB565-745C-CC80-3F7C-A4ECF242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616" y="3783988"/>
            <a:ext cx="6553200" cy="373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1249" y="667567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16460" y="-544450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271953">
            <a:off x="16120966" y="2584352"/>
            <a:ext cx="3379626" cy="3392991"/>
            <a:chOff x="0" y="0"/>
            <a:chExt cx="812800" cy="816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6014"/>
            </a:xfrm>
            <a:custGeom>
              <a:avLst/>
              <a:gdLst/>
              <a:ahLst/>
              <a:cxnLst/>
              <a:rect l="l" t="t" r="r" b="b"/>
              <a:pathLst>
                <a:path w="812800" h="816014">
                  <a:moveTo>
                    <a:pt x="406400" y="0"/>
                  </a:moveTo>
                  <a:cubicBezTo>
                    <a:pt x="181951" y="0"/>
                    <a:pt x="0" y="182671"/>
                    <a:pt x="0" y="408007"/>
                  </a:cubicBezTo>
                  <a:cubicBezTo>
                    <a:pt x="0" y="633343"/>
                    <a:pt x="181951" y="816014"/>
                    <a:pt x="406400" y="816014"/>
                  </a:cubicBezTo>
                  <a:cubicBezTo>
                    <a:pt x="630849" y="816014"/>
                    <a:pt x="812800" y="633343"/>
                    <a:pt x="812800" y="408007"/>
                  </a:cubicBezTo>
                  <a:cubicBezTo>
                    <a:pt x="812800" y="18267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61616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-56849"/>
              <a:ext cx="660400" cy="796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540">
            <a:off x="16875585" y="3151135"/>
            <a:ext cx="482145" cy="4821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90500" y="57150"/>
              <a:ext cx="4318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189" y="229400"/>
            <a:ext cx="1460172" cy="1196147"/>
            <a:chOff x="0" y="0"/>
            <a:chExt cx="1946896" cy="1594862"/>
          </a:xfrm>
        </p:grpSpPr>
        <p:sp>
          <p:nvSpPr>
            <p:cNvPr id="11" name="Freeform 11"/>
            <p:cNvSpPr/>
            <p:nvPr/>
          </p:nvSpPr>
          <p:spPr>
            <a:xfrm>
              <a:off x="242699" y="0"/>
              <a:ext cx="1581174" cy="1594862"/>
            </a:xfrm>
            <a:custGeom>
              <a:avLst/>
              <a:gdLst/>
              <a:ahLst/>
              <a:cxnLst/>
              <a:rect l="l" t="t" r="r" b="b"/>
              <a:pathLst>
                <a:path w="1581174" h="1594862">
                  <a:moveTo>
                    <a:pt x="0" y="0"/>
                  </a:moveTo>
                  <a:lnTo>
                    <a:pt x="1581175" y="0"/>
                  </a:lnTo>
                  <a:lnTo>
                    <a:pt x="1581175" y="1594862"/>
                  </a:lnTo>
                  <a:lnTo>
                    <a:pt x="0" y="1594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55" r="-2895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859322"/>
              <a:ext cx="1946896" cy="735540"/>
            </a:xfrm>
            <a:custGeom>
              <a:avLst/>
              <a:gdLst/>
              <a:ahLst/>
              <a:cxnLst/>
              <a:rect l="l" t="t" r="r" b="b"/>
              <a:pathLst>
                <a:path w="1946896" h="735540">
                  <a:moveTo>
                    <a:pt x="0" y="0"/>
                  </a:moveTo>
                  <a:lnTo>
                    <a:pt x="1946896" y="0"/>
                  </a:lnTo>
                  <a:lnTo>
                    <a:pt x="1946896" y="735540"/>
                  </a:lnTo>
                  <a:lnTo>
                    <a:pt x="0" y="73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107" r="-36928" b="-753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154091" y="602245"/>
            <a:ext cx="10923449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Oswald" panose="00000500000000000000" pitchFamily="2" charset="0"/>
                <a:ea typeface="League Spartan"/>
                <a:cs typeface="League Spartan"/>
                <a:sym typeface="League Spartan"/>
              </a:rPr>
              <a:t>FEATURES &amp; TECH STACK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1849" y="702767"/>
            <a:ext cx="5387429" cy="5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National-Level 24-Hour Hackathon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-285349" y="9572625"/>
            <a:ext cx="18725749" cy="19050"/>
          </a:xfrm>
          <a:prstGeom prst="line">
            <a:avLst/>
          </a:prstGeom>
          <a:ln w="38100" cap="flat">
            <a:solidFill>
              <a:srgbClr val="7972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83431" y="9616035"/>
            <a:ext cx="285943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PRISMATIC 2K26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35313" y="9616035"/>
            <a:ext cx="1667024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Slide 004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FBF4CB-742B-B154-628E-E5219EF9C4FA}"/>
              </a:ext>
            </a:extLst>
          </p:cNvPr>
          <p:cNvSpPr txBox="1"/>
          <p:nvPr/>
        </p:nvSpPr>
        <p:spPr>
          <a:xfrm>
            <a:off x="1828800" y="2752243"/>
            <a:ext cx="913105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Supports </a:t>
            </a:r>
            <a:r>
              <a:rPr lang="en-IN" sz="2800" b="1" dirty="0">
                <a:solidFill>
                  <a:srgbClr val="00B050"/>
                </a:solidFill>
                <a:latin typeface="Oswald" panose="00000500000000000000" pitchFamily="2" charset="0"/>
              </a:rPr>
              <a:t>multi-input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: webcam, mobile cameras, and video uploads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Performs </a:t>
            </a:r>
            <a:r>
              <a:rPr lang="en-IN" sz="2800" b="1" dirty="0">
                <a:solidFill>
                  <a:srgbClr val="FF0000"/>
                </a:solidFill>
                <a:latin typeface="Oswald" panose="00000500000000000000" pitchFamily="2" charset="0"/>
              </a:rPr>
              <a:t>real-time people detection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, counting, and crowd analysis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err="1">
                <a:solidFill>
                  <a:schemeClr val="bg2"/>
                </a:solidFill>
                <a:latin typeface="Oswald" panose="00000500000000000000" pitchFamily="2" charset="0"/>
              </a:rPr>
              <a:t>Analyzes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 density and movement to predict congestion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Generates smart, camera-wise </a:t>
            </a:r>
            <a:r>
              <a:rPr lang="en-IN" sz="2800" b="1" dirty="0">
                <a:solidFill>
                  <a:srgbClr val="FFFF00"/>
                </a:solidFill>
                <a:latin typeface="Oswald" panose="00000500000000000000" pitchFamily="2" charset="0"/>
              </a:rPr>
              <a:t>alerts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 for quick action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Provides role-based access for </a:t>
            </a:r>
            <a:r>
              <a:rPr lang="en-IN" sz="2800" b="1" dirty="0">
                <a:solidFill>
                  <a:srgbClr val="00B0F0"/>
                </a:solidFill>
                <a:latin typeface="Oswald" panose="00000500000000000000" pitchFamily="2" charset="0"/>
              </a:rPr>
              <a:t>admin and guards</a:t>
            </a: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 .</a:t>
            </a:r>
          </a:p>
          <a:p>
            <a:endParaRPr lang="en-IN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r>
              <a:rPr lang="en-IN" sz="2800" b="1" u="sng" dirty="0">
                <a:solidFill>
                  <a:schemeClr val="bg2"/>
                </a:solidFill>
                <a:latin typeface="Oswald" panose="00000500000000000000" pitchFamily="2" charset="0"/>
              </a:rPr>
              <a:t>TECH STACK:</a:t>
            </a:r>
          </a:p>
          <a:p>
            <a:b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</a:br>
            <a:r>
              <a:rPr lang="en-IN" sz="2800" dirty="0">
                <a:solidFill>
                  <a:schemeClr val="bg2"/>
                </a:solidFill>
                <a:latin typeface="Oswald" panose="00000500000000000000" pitchFamily="2" charset="0"/>
              </a:rPr>
              <a:t>	</a:t>
            </a:r>
            <a:r>
              <a:rPr lang="en-IN" sz="2800" b="1" dirty="0">
                <a:solidFill>
                  <a:schemeClr val="bg2"/>
                </a:solidFill>
                <a:latin typeface="Oswald" panose="00000500000000000000" pitchFamily="2" charset="0"/>
              </a:rPr>
              <a:t>Python (YOLOv8, OpenCV) , React.js , Tailwind CSS , 	Node.js ,Express.js , Socket.IO , MongoDB , IP Webcam .</a:t>
            </a:r>
          </a:p>
          <a:p>
            <a:endParaRPr lang="en-IN" sz="2800" b="1" dirty="0">
              <a:solidFill>
                <a:schemeClr val="bg2"/>
              </a:solidFill>
              <a:latin typeface="Oswald" panose="00000500000000000000" pitchFamily="2" charset="0"/>
            </a:endParaRPr>
          </a:p>
        </p:txBody>
      </p:sp>
      <p:pic>
        <p:nvPicPr>
          <p:cNvPr id="2052" name="Picture 4" descr="YOLO Models For Object Detection Explained [YOLOv8 Updated], 41% OFF">
            <a:extLst>
              <a:ext uri="{FF2B5EF4-FFF2-40B4-BE49-F238E27FC236}">
                <a16:creationId xmlns:a16="http://schemas.microsoft.com/office/drawing/2014/main" id="{69C87D3E-168A-97C9-8514-BEC3E91D88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4" b="49942"/>
          <a:stretch>
            <a:fillRect/>
          </a:stretch>
        </p:blipFill>
        <p:spPr bwMode="auto">
          <a:xfrm>
            <a:off x="11370851" y="2277458"/>
            <a:ext cx="5952403" cy="293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Use OpenCV in React Native for Image Processing | by Brainhub ...">
            <a:extLst>
              <a:ext uri="{FF2B5EF4-FFF2-40B4-BE49-F238E27FC236}">
                <a16:creationId xmlns:a16="http://schemas.microsoft.com/office/drawing/2014/main" id="{F6AABB96-2285-B733-2CAF-1EF77F0C0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646" y="5557699"/>
            <a:ext cx="6044597" cy="298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1249" y="667567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16460" y="-544450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271953">
            <a:off x="16120966" y="2584352"/>
            <a:ext cx="3379626" cy="3392991"/>
            <a:chOff x="0" y="0"/>
            <a:chExt cx="812800" cy="816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6014"/>
            </a:xfrm>
            <a:custGeom>
              <a:avLst/>
              <a:gdLst/>
              <a:ahLst/>
              <a:cxnLst/>
              <a:rect l="l" t="t" r="r" b="b"/>
              <a:pathLst>
                <a:path w="812800" h="816014">
                  <a:moveTo>
                    <a:pt x="406400" y="0"/>
                  </a:moveTo>
                  <a:cubicBezTo>
                    <a:pt x="181951" y="0"/>
                    <a:pt x="0" y="182671"/>
                    <a:pt x="0" y="408007"/>
                  </a:cubicBezTo>
                  <a:cubicBezTo>
                    <a:pt x="0" y="633343"/>
                    <a:pt x="181951" y="816014"/>
                    <a:pt x="406400" y="816014"/>
                  </a:cubicBezTo>
                  <a:cubicBezTo>
                    <a:pt x="630849" y="816014"/>
                    <a:pt x="812800" y="633343"/>
                    <a:pt x="812800" y="408007"/>
                  </a:cubicBezTo>
                  <a:cubicBezTo>
                    <a:pt x="812800" y="18267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616161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-56849"/>
              <a:ext cx="660400" cy="796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9540">
            <a:off x="16875585" y="3151135"/>
            <a:ext cx="482145" cy="4821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90500" y="57150"/>
              <a:ext cx="4318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23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189" y="229400"/>
            <a:ext cx="1460172" cy="1196147"/>
            <a:chOff x="0" y="0"/>
            <a:chExt cx="1946896" cy="1594862"/>
          </a:xfrm>
        </p:grpSpPr>
        <p:sp>
          <p:nvSpPr>
            <p:cNvPr id="11" name="Freeform 11"/>
            <p:cNvSpPr/>
            <p:nvPr/>
          </p:nvSpPr>
          <p:spPr>
            <a:xfrm>
              <a:off x="242699" y="0"/>
              <a:ext cx="1581174" cy="1594862"/>
            </a:xfrm>
            <a:custGeom>
              <a:avLst/>
              <a:gdLst/>
              <a:ahLst/>
              <a:cxnLst/>
              <a:rect l="l" t="t" r="r" b="b"/>
              <a:pathLst>
                <a:path w="1581174" h="1594862">
                  <a:moveTo>
                    <a:pt x="0" y="0"/>
                  </a:moveTo>
                  <a:lnTo>
                    <a:pt x="1581175" y="0"/>
                  </a:lnTo>
                  <a:lnTo>
                    <a:pt x="1581175" y="1594862"/>
                  </a:lnTo>
                  <a:lnTo>
                    <a:pt x="0" y="1594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955" r="-2895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859322"/>
              <a:ext cx="1946896" cy="735540"/>
            </a:xfrm>
            <a:custGeom>
              <a:avLst/>
              <a:gdLst/>
              <a:ahLst/>
              <a:cxnLst/>
              <a:rect l="l" t="t" r="r" b="b"/>
              <a:pathLst>
                <a:path w="1946896" h="735540">
                  <a:moveTo>
                    <a:pt x="0" y="0"/>
                  </a:moveTo>
                  <a:lnTo>
                    <a:pt x="1946896" y="0"/>
                  </a:lnTo>
                  <a:lnTo>
                    <a:pt x="1946896" y="735540"/>
                  </a:lnTo>
                  <a:lnTo>
                    <a:pt x="0" y="73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107" r="-36928" b="-7531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342746" y="702767"/>
            <a:ext cx="8256836" cy="8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Oswald" panose="00000500000000000000" pitchFamily="2" charset="0"/>
                <a:ea typeface="League Spartan"/>
                <a:cs typeface="League Spartan"/>
                <a:sym typeface="League Spartan"/>
              </a:rPr>
              <a:t>IMPACT &amp; FUTURE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1849" y="702767"/>
            <a:ext cx="5387429" cy="5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National-Level 24-Hour Hackathon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-285349" y="9572625"/>
            <a:ext cx="18725749" cy="19050"/>
          </a:xfrm>
          <a:prstGeom prst="line">
            <a:avLst/>
          </a:prstGeom>
          <a:ln w="38100" cap="flat">
            <a:solidFill>
              <a:srgbClr val="79727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83431" y="9616035"/>
            <a:ext cx="2859435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PRISMATIC 2K26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25937" y="9616035"/>
            <a:ext cx="1666726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7B7777"/>
                </a:solidFill>
                <a:latin typeface="Poppins"/>
                <a:ea typeface="Poppins"/>
                <a:cs typeface="Poppins"/>
                <a:sym typeface="Poppins"/>
              </a:rPr>
              <a:t>Slide 005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C8C930-BFC8-B1B0-EB2C-A8AD592F8982}"/>
              </a:ext>
            </a:extLst>
          </p:cNvPr>
          <p:cNvSpPr txBox="1"/>
          <p:nvPr/>
        </p:nvSpPr>
        <p:spPr>
          <a:xfrm>
            <a:off x="1556153" y="2795523"/>
            <a:ext cx="967365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Applicable in </a:t>
            </a:r>
            <a:r>
              <a:rPr lang="en-US" sz="2800" b="1" dirty="0">
                <a:solidFill>
                  <a:schemeClr val="bg2"/>
                </a:solidFill>
                <a:latin typeface="Oswald" panose="00000500000000000000" pitchFamily="2" charset="0"/>
              </a:rPr>
              <a:t>railway stations, bus stands, malls, stadiums, and public events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Can be extended to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Oswald" panose="00000500000000000000" pitchFamily="2" charset="0"/>
              </a:rPr>
              <a:t>smart city surveillance systems 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Improves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Oswald" panose="00000500000000000000" pitchFamily="2" charset="0"/>
              </a:rPr>
              <a:t>public safety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Oswald" panose="00000500000000000000" pitchFamily="2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through continuous monitoring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Enables </a:t>
            </a:r>
            <a:r>
              <a:rPr lang="en-US" sz="2800" b="1" dirty="0">
                <a:solidFill>
                  <a:srgbClr val="7030A0"/>
                </a:solidFill>
                <a:latin typeface="Oswald" panose="00000500000000000000" pitchFamily="2" charset="0"/>
              </a:rPr>
              <a:t>early congestion detection</a:t>
            </a:r>
            <a:r>
              <a:rPr lang="en-US" sz="2800" dirty="0">
                <a:solidFill>
                  <a:srgbClr val="7030A0"/>
                </a:solidFill>
                <a:latin typeface="Oswald" panose="00000500000000000000" pitchFamily="2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and faster response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Helps authorities take </a:t>
            </a:r>
            <a:r>
              <a:rPr lang="en-US" sz="2800" b="1" dirty="0">
                <a:solidFill>
                  <a:srgbClr val="FFFF00"/>
                </a:solidFill>
                <a:latin typeface="Oswald" panose="00000500000000000000" pitchFamily="2" charset="0"/>
              </a:rPr>
              <a:t>quick and effective action</a:t>
            </a: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Reduces risks related to overcrowding .</a:t>
            </a:r>
          </a:p>
          <a:p>
            <a:endParaRPr lang="en-US" sz="2800" dirty="0">
              <a:solidFill>
                <a:schemeClr val="bg2"/>
              </a:solidFill>
              <a:latin typeface="Oswald" panose="00000500000000000000" pitchFamily="2" charset="0"/>
            </a:endParaRPr>
          </a:p>
          <a:p>
            <a:r>
              <a:rPr lang="en-US" sz="2800" b="1" dirty="0">
                <a:solidFill>
                  <a:schemeClr val="bg2"/>
                </a:solidFill>
                <a:latin typeface="Oswald" panose="00000500000000000000" pitchFamily="2" charset="0"/>
              </a:rPr>
              <a:t>FUTURE ENHANCEMENTS:</a:t>
            </a:r>
          </a:p>
          <a:p>
            <a:b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</a:br>
            <a:r>
              <a:rPr lang="en-US" sz="2800" dirty="0">
                <a:solidFill>
                  <a:schemeClr val="bg2"/>
                </a:solidFill>
                <a:latin typeface="Oswald" panose="00000500000000000000" pitchFamily="2" charset="0"/>
              </a:rPr>
              <a:t>	Crowd heatmaps, AI-based time prediction, CCTV integration, and 	mobile alert systems for guards .</a:t>
            </a:r>
          </a:p>
          <a:p>
            <a:endParaRPr lang="en-IN" sz="2800" dirty="0">
              <a:solidFill>
                <a:schemeClr val="bg2"/>
              </a:solidFill>
              <a:latin typeface="Oswald" panose="00000500000000000000" pitchFamily="2" charset="0"/>
            </a:endParaRPr>
          </a:p>
        </p:txBody>
      </p:sp>
      <p:pic>
        <p:nvPicPr>
          <p:cNvPr id="3074" name="Picture 2" descr="DeepSORT — Deep Learning applied to Object Tracking | by Ritesh Kanjee ...">
            <a:extLst>
              <a:ext uri="{FF2B5EF4-FFF2-40B4-BE49-F238E27FC236}">
                <a16:creationId xmlns:a16="http://schemas.microsoft.com/office/drawing/2014/main" id="{63EFC653-E9F1-0350-6ACF-AF3D5CE83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58" y="2795523"/>
            <a:ext cx="6344621" cy="515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370</Words>
  <Application>Microsoft Office PowerPoint</Application>
  <PresentationFormat>Custom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Algerian</vt:lpstr>
      <vt:lpstr>Wingdings</vt:lpstr>
      <vt:lpstr>Futura</vt:lpstr>
      <vt:lpstr>Arial</vt:lpstr>
      <vt:lpstr>Oswald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Level 24 hr hackathon</dc:title>
  <dc:creator>Ashraf A</dc:creator>
  <cp:lastModifiedBy>Ashraf A</cp:lastModifiedBy>
  <cp:revision>4</cp:revision>
  <dcterms:created xsi:type="dcterms:W3CDTF">2006-08-16T00:00:00Z</dcterms:created>
  <dcterms:modified xsi:type="dcterms:W3CDTF">2026-03-30T07:39:55Z</dcterms:modified>
  <dc:identifier>DAHE3ibdNBk</dc:identifier>
</cp:coreProperties>
</file>